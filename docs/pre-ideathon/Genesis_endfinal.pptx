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A78D93-37E6-4D7E-AD9B-5C5DEB2E2729}" v="34" dt="2026-10-09T15:51:41.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ika S" userId="986a5bb6d0abc9a2" providerId="LiveId" clId="{57D2F0A1-8B92-491B-9378-645F020B709E}"/>
    <pc:docChg chg="custSel modSld">
      <pc:chgData name="Shobika S" userId="986a5bb6d0abc9a2" providerId="LiveId" clId="{57D2F0A1-8B92-491B-9378-645F020B709E}" dt="2026-10-09T15:55:10.003" v="1924" actId="1076"/>
      <pc:docMkLst>
        <pc:docMk/>
      </pc:docMkLst>
      <pc:sldChg chg="modSp mod">
        <pc:chgData name="Shobika S" userId="986a5bb6d0abc9a2" providerId="LiveId" clId="{57D2F0A1-8B92-491B-9378-645F020B709E}" dt="2026-10-09T15:28:57.633" v="1790" actId="20577"/>
        <pc:sldMkLst>
          <pc:docMk/>
          <pc:sldMk cId="0" sldId="256"/>
        </pc:sldMkLst>
        <pc:spChg chg="mod">
          <ac:chgData name="Shobika S" userId="986a5bb6d0abc9a2" providerId="LiveId" clId="{57D2F0A1-8B92-491B-9378-645F020B709E}" dt="2026-10-09T13:58:32.203" v="0" actId="1076"/>
          <ac:spMkLst>
            <pc:docMk/>
            <pc:sldMk cId="0" sldId="256"/>
            <ac:spMk id="11" creationId="{00000000-0000-0000-0000-000000000000}"/>
          </ac:spMkLst>
        </pc:spChg>
        <pc:spChg chg="mod">
          <ac:chgData name="Shobika S" userId="986a5bb6d0abc9a2" providerId="LiveId" clId="{57D2F0A1-8B92-491B-9378-645F020B709E}" dt="2026-10-09T13:58:37.973" v="1" actId="1076"/>
          <ac:spMkLst>
            <pc:docMk/>
            <pc:sldMk cId="0" sldId="256"/>
            <ac:spMk id="12" creationId="{00000000-0000-0000-0000-000000000000}"/>
          </ac:spMkLst>
        </pc:spChg>
        <pc:spChg chg="mod">
          <ac:chgData name="Shobika S" userId="986a5bb6d0abc9a2" providerId="LiveId" clId="{57D2F0A1-8B92-491B-9378-645F020B709E}" dt="2026-10-09T13:59:37.939" v="75" actId="1076"/>
          <ac:spMkLst>
            <pc:docMk/>
            <pc:sldMk cId="0" sldId="256"/>
            <ac:spMk id="13" creationId="{00000000-0000-0000-0000-000000000000}"/>
          </ac:spMkLst>
        </pc:spChg>
        <pc:spChg chg="mod">
          <ac:chgData name="Shobika S" userId="986a5bb6d0abc9a2" providerId="LiveId" clId="{57D2F0A1-8B92-491B-9378-645F020B709E}" dt="2026-10-09T13:59:42.910" v="76" actId="1076"/>
          <ac:spMkLst>
            <pc:docMk/>
            <pc:sldMk cId="0" sldId="256"/>
            <ac:spMk id="14" creationId="{00000000-0000-0000-0000-000000000000}"/>
          </ac:spMkLst>
        </pc:spChg>
        <pc:spChg chg="mod">
          <ac:chgData name="Shobika S" userId="986a5bb6d0abc9a2" providerId="LiveId" clId="{57D2F0A1-8B92-491B-9378-645F020B709E}" dt="2026-10-09T15:28:57.633" v="1790" actId="20577"/>
          <ac:spMkLst>
            <pc:docMk/>
            <pc:sldMk cId="0" sldId="256"/>
            <ac:spMk id="15" creationId="{00000000-0000-0000-0000-000000000000}"/>
          </ac:spMkLst>
        </pc:spChg>
      </pc:sldChg>
      <pc:sldChg chg="modSp mod">
        <pc:chgData name="Shobika S" userId="986a5bb6d0abc9a2" providerId="LiveId" clId="{57D2F0A1-8B92-491B-9378-645F020B709E}" dt="2026-10-09T15:54:52.197" v="1923" actId="113"/>
        <pc:sldMkLst>
          <pc:docMk/>
          <pc:sldMk cId="0" sldId="257"/>
        </pc:sldMkLst>
        <pc:spChg chg="mod">
          <ac:chgData name="Shobika S" userId="986a5bb6d0abc9a2" providerId="LiveId" clId="{57D2F0A1-8B92-491B-9378-645F020B709E}" dt="2026-10-09T15:28:51.417" v="1789" actId="20577"/>
          <ac:spMkLst>
            <pc:docMk/>
            <pc:sldMk cId="0" sldId="257"/>
            <ac:spMk id="6" creationId="{00000000-0000-0000-0000-000000000000}"/>
          </ac:spMkLst>
        </pc:spChg>
        <pc:spChg chg="mod">
          <ac:chgData name="Shobika S" userId="986a5bb6d0abc9a2" providerId="LiveId" clId="{57D2F0A1-8B92-491B-9378-645F020B709E}" dt="2026-10-09T14:01:18.158" v="637" actId="1076"/>
          <ac:spMkLst>
            <pc:docMk/>
            <pc:sldMk cId="0" sldId="257"/>
            <ac:spMk id="9" creationId="{00000000-0000-0000-0000-000000000000}"/>
          </ac:spMkLst>
        </pc:spChg>
        <pc:spChg chg="mod">
          <ac:chgData name="Shobika S" userId="986a5bb6d0abc9a2" providerId="LiveId" clId="{57D2F0A1-8B92-491B-9378-645F020B709E}" dt="2026-10-09T15:54:52.197" v="1923" actId="113"/>
          <ac:spMkLst>
            <pc:docMk/>
            <pc:sldMk cId="0" sldId="257"/>
            <ac:spMk id="10" creationId="{00000000-0000-0000-0000-000000000000}"/>
          </ac:spMkLst>
        </pc:spChg>
      </pc:sldChg>
      <pc:sldChg chg="modSp mod">
        <pc:chgData name="Shobika S" userId="986a5bb6d0abc9a2" providerId="LiveId" clId="{57D2F0A1-8B92-491B-9378-645F020B709E}" dt="2026-10-09T15:54:41.589" v="1921" actId="113"/>
        <pc:sldMkLst>
          <pc:docMk/>
          <pc:sldMk cId="0" sldId="258"/>
        </pc:sldMkLst>
        <pc:spChg chg="mod">
          <ac:chgData name="Shobika S" userId="986a5bb6d0abc9a2" providerId="LiveId" clId="{57D2F0A1-8B92-491B-9378-645F020B709E}" dt="2026-10-09T15:28:37.842" v="1760" actId="20577"/>
          <ac:spMkLst>
            <pc:docMk/>
            <pc:sldMk cId="0" sldId="258"/>
            <ac:spMk id="6" creationId="{00000000-0000-0000-0000-000000000000}"/>
          </ac:spMkLst>
        </pc:spChg>
        <pc:spChg chg="mod">
          <ac:chgData name="Shobika S" userId="986a5bb6d0abc9a2" providerId="LiveId" clId="{57D2F0A1-8B92-491B-9378-645F020B709E}" dt="2026-10-09T15:54:41.589" v="1921" actId="113"/>
          <ac:spMkLst>
            <pc:docMk/>
            <pc:sldMk cId="0" sldId="258"/>
            <ac:spMk id="10" creationId="{00000000-0000-0000-0000-000000000000}"/>
          </ac:spMkLst>
        </pc:spChg>
      </pc:sldChg>
      <pc:sldChg chg="addSp delSp modSp mod">
        <pc:chgData name="Shobika S" userId="986a5bb6d0abc9a2" providerId="LiveId" clId="{57D2F0A1-8B92-491B-9378-645F020B709E}" dt="2026-10-09T15:28:25.419" v="1731" actId="20577"/>
        <pc:sldMkLst>
          <pc:docMk/>
          <pc:sldMk cId="0" sldId="259"/>
        </pc:sldMkLst>
        <pc:spChg chg="mod">
          <ac:chgData name="Shobika S" userId="986a5bb6d0abc9a2" providerId="LiveId" clId="{57D2F0A1-8B92-491B-9378-645F020B709E}" dt="2026-10-09T15:28:25.419" v="1731" actId="20577"/>
          <ac:spMkLst>
            <pc:docMk/>
            <pc:sldMk cId="0" sldId="259"/>
            <ac:spMk id="6" creationId="{00000000-0000-0000-0000-000000000000}"/>
          </ac:spMkLst>
        </pc:spChg>
        <pc:spChg chg="del">
          <ac:chgData name="Shobika S" userId="986a5bb6d0abc9a2" providerId="LiveId" clId="{57D2F0A1-8B92-491B-9378-645F020B709E}" dt="2026-10-09T14:04:40.717" v="639" actId="478"/>
          <ac:spMkLst>
            <pc:docMk/>
            <pc:sldMk cId="0" sldId="259"/>
            <ac:spMk id="9" creationId="{00000000-0000-0000-0000-000000000000}"/>
          </ac:spMkLst>
        </pc:spChg>
        <pc:spChg chg="mod">
          <ac:chgData name="Shobika S" userId="986a5bb6d0abc9a2" providerId="LiveId" clId="{57D2F0A1-8B92-491B-9378-645F020B709E}" dt="2026-10-09T14:06:37.537" v="752" actId="255"/>
          <ac:spMkLst>
            <pc:docMk/>
            <pc:sldMk cId="0" sldId="259"/>
            <ac:spMk id="10" creationId="{00000000-0000-0000-0000-000000000000}"/>
          </ac:spMkLst>
        </pc:spChg>
        <pc:spChg chg="add mod">
          <ac:chgData name="Shobika S" userId="986a5bb6d0abc9a2" providerId="LiveId" clId="{57D2F0A1-8B92-491B-9378-645F020B709E}" dt="2026-10-09T14:05:16.788" v="644" actId="1076"/>
          <ac:spMkLst>
            <pc:docMk/>
            <pc:sldMk cId="0" sldId="259"/>
            <ac:spMk id="11" creationId="{3A1E4773-9FE9-BD93-016E-D987569140E7}"/>
          </ac:spMkLst>
        </pc:spChg>
      </pc:sldChg>
      <pc:sldChg chg="modSp mod">
        <pc:chgData name="Shobika S" userId="986a5bb6d0abc9a2" providerId="LiveId" clId="{57D2F0A1-8B92-491B-9378-645F020B709E}" dt="2026-10-09T15:53:42.419" v="1913" actId="313"/>
        <pc:sldMkLst>
          <pc:docMk/>
          <pc:sldMk cId="0" sldId="260"/>
        </pc:sldMkLst>
        <pc:spChg chg="mod">
          <ac:chgData name="Shobika S" userId="986a5bb6d0abc9a2" providerId="LiveId" clId="{57D2F0A1-8B92-491B-9378-645F020B709E}" dt="2026-10-09T15:28:18.241" v="1730" actId="20577"/>
          <ac:spMkLst>
            <pc:docMk/>
            <pc:sldMk cId="0" sldId="260"/>
            <ac:spMk id="6" creationId="{00000000-0000-0000-0000-000000000000}"/>
          </ac:spMkLst>
        </pc:spChg>
        <pc:spChg chg="mod">
          <ac:chgData name="Shobika S" userId="986a5bb6d0abc9a2" providerId="LiveId" clId="{57D2F0A1-8B92-491B-9378-645F020B709E}" dt="2026-10-09T14:07:11.082" v="813"/>
          <ac:spMkLst>
            <pc:docMk/>
            <pc:sldMk cId="0" sldId="260"/>
            <ac:spMk id="9" creationId="{00000000-0000-0000-0000-000000000000}"/>
          </ac:spMkLst>
        </pc:spChg>
        <pc:spChg chg="mod">
          <ac:chgData name="Shobika S" userId="986a5bb6d0abc9a2" providerId="LiveId" clId="{57D2F0A1-8B92-491B-9378-645F020B709E}" dt="2026-10-09T15:53:42.419" v="1913" actId="313"/>
          <ac:spMkLst>
            <pc:docMk/>
            <pc:sldMk cId="0" sldId="260"/>
            <ac:spMk id="10" creationId="{00000000-0000-0000-0000-000000000000}"/>
          </ac:spMkLst>
        </pc:spChg>
      </pc:sldChg>
      <pc:sldChg chg="modSp mod">
        <pc:chgData name="Shobika S" userId="986a5bb6d0abc9a2" providerId="LiveId" clId="{57D2F0A1-8B92-491B-9378-645F020B709E}" dt="2026-10-09T15:54:22.067" v="1918" actId="113"/>
        <pc:sldMkLst>
          <pc:docMk/>
          <pc:sldMk cId="0" sldId="261"/>
        </pc:sldMkLst>
        <pc:spChg chg="mod">
          <ac:chgData name="Shobika S" userId="986a5bb6d0abc9a2" providerId="LiveId" clId="{57D2F0A1-8B92-491B-9378-645F020B709E}" dt="2026-10-09T15:28:12.612" v="1729" actId="20577"/>
          <ac:spMkLst>
            <pc:docMk/>
            <pc:sldMk cId="0" sldId="261"/>
            <ac:spMk id="6" creationId="{00000000-0000-0000-0000-000000000000}"/>
          </ac:spMkLst>
        </pc:spChg>
        <pc:spChg chg="mod">
          <ac:chgData name="Shobika S" userId="986a5bb6d0abc9a2" providerId="LiveId" clId="{57D2F0A1-8B92-491B-9378-645F020B709E}" dt="2026-10-09T14:14:14.478" v="977"/>
          <ac:spMkLst>
            <pc:docMk/>
            <pc:sldMk cId="0" sldId="261"/>
            <ac:spMk id="9" creationId="{00000000-0000-0000-0000-000000000000}"/>
          </ac:spMkLst>
        </pc:spChg>
        <pc:spChg chg="mod">
          <ac:chgData name="Shobika S" userId="986a5bb6d0abc9a2" providerId="LiveId" clId="{57D2F0A1-8B92-491B-9378-645F020B709E}" dt="2026-10-09T15:54:22.067" v="1918" actId="113"/>
          <ac:spMkLst>
            <pc:docMk/>
            <pc:sldMk cId="0" sldId="261"/>
            <ac:spMk id="10" creationId="{00000000-0000-0000-0000-000000000000}"/>
          </ac:spMkLst>
        </pc:spChg>
      </pc:sldChg>
      <pc:sldChg chg="modSp mod">
        <pc:chgData name="Shobika S" userId="986a5bb6d0abc9a2" providerId="LiveId" clId="{57D2F0A1-8B92-491B-9378-645F020B709E}" dt="2026-10-09T15:55:10.003" v="1924" actId="1076"/>
        <pc:sldMkLst>
          <pc:docMk/>
          <pc:sldMk cId="0" sldId="262"/>
        </pc:sldMkLst>
        <pc:spChg chg="mod">
          <ac:chgData name="Shobika S" userId="986a5bb6d0abc9a2" providerId="LiveId" clId="{57D2F0A1-8B92-491B-9378-645F020B709E}" dt="2026-10-09T15:27:29.485" v="1700" actId="20577"/>
          <ac:spMkLst>
            <pc:docMk/>
            <pc:sldMk cId="0" sldId="262"/>
            <ac:spMk id="6" creationId="{00000000-0000-0000-0000-000000000000}"/>
          </ac:spMkLst>
        </pc:spChg>
        <pc:spChg chg="mod">
          <ac:chgData name="Shobika S" userId="986a5bb6d0abc9a2" providerId="LiveId" clId="{57D2F0A1-8B92-491B-9378-645F020B709E}" dt="2026-10-09T14:34:43.108" v="1299" actId="255"/>
          <ac:spMkLst>
            <pc:docMk/>
            <pc:sldMk cId="0" sldId="262"/>
            <ac:spMk id="22" creationId="{0256EFB4-27E8-AA86-F981-6D80D50ED231}"/>
          </ac:spMkLst>
        </pc:spChg>
        <pc:spChg chg="mod">
          <ac:chgData name="Shobika S" userId="986a5bb6d0abc9a2" providerId="LiveId" clId="{57D2F0A1-8B92-491B-9378-645F020B709E}" dt="2026-10-09T14:35:30.237" v="1305" actId="255"/>
          <ac:spMkLst>
            <pc:docMk/>
            <pc:sldMk cId="0" sldId="262"/>
            <ac:spMk id="26" creationId="{A3562686-52A7-86C3-CE35-E2CACC1E51C3}"/>
          </ac:spMkLst>
        </pc:spChg>
        <pc:spChg chg="mod">
          <ac:chgData name="Shobika S" userId="986a5bb6d0abc9a2" providerId="LiveId" clId="{57D2F0A1-8B92-491B-9378-645F020B709E}" dt="2026-10-09T15:55:10.003" v="1924" actId="1076"/>
          <ac:spMkLst>
            <pc:docMk/>
            <pc:sldMk cId="0" sldId="262"/>
            <ac:spMk id="28" creationId="{17A2D564-31F3-BEDE-E510-A048E9ABF4EE}"/>
          </ac:spMkLst>
        </pc:spChg>
      </pc:sldChg>
      <pc:sldChg chg="modSp mod">
        <pc:chgData name="Shobika S" userId="986a5bb6d0abc9a2" providerId="LiveId" clId="{57D2F0A1-8B92-491B-9378-645F020B709E}" dt="2026-10-09T15:27:18.471" v="1671" actId="20577"/>
        <pc:sldMkLst>
          <pc:docMk/>
          <pc:sldMk cId="0" sldId="263"/>
        </pc:sldMkLst>
        <pc:spChg chg="mod">
          <ac:chgData name="Shobika S" userId="986a5bb6d0abc9a2" providerId="LiveId" clId="{57D2F0A1-8B92-491B-9378-645F020B709E}" dt="2026-10-09T15:27:18.471" v="1671" actId="20577"/>
          <ac:spMkLst>
            <pc:docMk/>
            <pc:sldMk cId="0" sldId="263"/>
            <ac:spMk id="6" creationId="{00000000-0000-0000-0000-000000000000}"/>
          </ac:spMkLst>
        </pc:spChg>
        <pc:spChg chg="mod">
          <ac:chgData name="Shobika S" userId="986a5bb6d0abc9a2" providerId="LiveId" clId="{57D2F0A1-8B92-491B-9378-645F020B709E}" dt="2026-10-09T14:22:09.668" v="997" actId="1076"/>
          <ac:spMkLst>
            <pc:docMk/>
            <pc:sldMk cId="0" sldId="263"/>
            <ac:spMk id="9" creationId="{00000000-0000-0000-0000-000000000000}"/>
          </ac:spMkLst>
        </pc:spChg>
        <pc:spChg chg="mod">
          <ac:chgData name="Shobika S" userId="986a5bb6d0abc9a2" providerId="LiveId" clId="{57D2F0A1-8B92-491B-9378-645F020B709E}" dt="2026-10-09T14:31:35.997" v="1052" actId="113"/>
          <ac:spMkLst>
            <pc:docMk/>
            <pc:sldMk cId="0" sldId="263"/>
            <ac:spMk id="10" creationId="{00000000-0000-0000-0000-000000000000}"/>
          </ac:spMkLst>
        </pc:spChg>
      </pc:sldChg>
      <pc:sldChg chg="modSp mod">
        <pc:chgData name="Shobika S" userId="986a5bb6d0abc9a2" providerId="LiveId" clId="{57D2F0A1-8B92-491B-9378-645F020B709E}" dt="2026-10-09T15:27:07.613" v="1642" actId="20577"/>
        <pc:sldMkLst>
          <pc:docMk/>
          <pc:sldMk cId="0" sldId="264"/>
        </pc:sldMkLst>
        <pc:spChg chg="mod">
          <ac:chgData name="Shobika S" userId="986a5bb6d0abc9a2" providerId="LiveId" clId="{57D2F0A1-8B92-491B-9378-645F020B709E}" dt="2026-10-09T15:27:07.613" v="1642" actId="20577"/>
          <ac:spMkLst>
            <pc:docMk/>
            <pc:sldMk cId="0" sldId="264"/>
            <ac:spMk id="6" creationId="{00000000-0000-0000-0000-000000000000}"/>
          </ac:spMkLst>
        </pc:spChg>
        <pc:graphicFrameChg chg="mod modGraphic">
          <ac:chgData name="Shobika S" userId="986a5bb6d0abc9a2" providerId="LiveId" clId="{57D2F0A1-8B92-491B-9378-645F020B709E}" dt="2026-10-09T15:26:53.355" v="1613" actId="255"/>
          <ac:graphicFrameMkLst>
            <pc:docMk/>
            <pc:sldMk cId="0" sldId="264"/>
            <ac:graphicFrameMk id="1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4537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18288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18922" y="443257"/>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1916525"/>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2314337"/>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491490" y="2680025"/>
            <a:ext cx="6035040" cy="3695502"/>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dirty="0">
                <a:solidFill>
                  <a:schemeClr val="bg1"/>
                </a:solidFill>
              </a:rPr>
              <a:t>Team Name – The 4 Dimension</a:t>
            </a:r>
            <a:endParaRPr lang="en-US" dirty="0"/>
          </a:p>
          <a:p>
            <a:pPr marL="279400" indent="-279400">
              <a:spcAft>
                <a:spcPts val="1400"/>
              </a:spcAft>
              <a:buClr>
                <a:schemeClr val="accent3"/>
              </a:buClr>
              <a:buSzPct val="100000"/>
              <a:buChar char="•"/>
            </a:pPr>
            <a:r>
              <a:rPr lang="en-US" dirty="0">
                <a:solidFill>
                  <a:schemeClr val="bg1"/>
                </a:solidFill>
              </a:rPr>
              <a:t>Team Members –</a:t>
            </a:r>
          </a:p>
          <a:p>
            <a:pPr marL="279400" indent="-279400">
              <a:spcAft>
                <a:spcPts val="1400"/>
              </a:spcAft>
              <a:buClr>
                <a:schemeClr val="accent3"/>
              </a:buClr>
              <a:buSzPct val="100000"/>
              <a:buChar char="•"/>
            </a:pPr>
            <a:r>
              <a:rPr lang="en-US" dirty="0">
                <a:solidFill>
                  <a:schemeClr val="bg1"/>
                </a:solidFill>
              </a:rPr>
              <a:t> 1) Shobika S     CB.EN.U4ECE26050</a:t>
            </a:r>
          </a:p>
          <a:p>
            <a:pPr marL="279400" indent="-279400">
              <a:spcAft>
                <a:spcPts val="1400"/>
              </a:spcAft>
              <a:buClr>
                <a:schemeClr val="accent3"/>
              </a:buClr>
              <a:buSzPct val="100000"/>
              <a:buChar char="•"/>
            </a:pPr>
            <a:r>
              <a:rPr lang="en-US" dirty="0">
                <a:solidFill>
                  <a:schemeClr val="bg1"/>
                </a:solidFill>
              </a:rPr>
              <a:t> 2) V S </a:t>
            </a:r>
            <a:r>
              <a:rPr lang="en-US" dirty="0" err="1">
                <a:solidFill>
                  <a:schemeClr val="bg1"/>
                </a:solidFill>
              </a:rPr>
              <a:t>Lithanya</a:t>
            </a:r>
            <a:r>
              <a:rPr lang="en-US" dirty="0">
                <a:solidFill>
                  <a:schemeClr val="bg1"/>
                </a:solidFill>
              </a:rPr>
              <a:t> Varshigha    CB.EN.U4ECE26258</a:t>
            </a:r>
          </a:p>
          <a:p>
            <a:pPr marL="279400" indent="-279400">
              <a:spcAft>
                <a:spcPts val="1400"/>
              </a:spcAft>
              <a:buClr>
                <a:schemeClr val="accent3"/>
              </a:buClr>
              <a:buSzPct val="100000"/>
              <a:buChar char="•"/>
            </a:pPr>
            <a:r>
              <a:rPr lang="en-US" dirty="0">
                <a:solidFill>
                  <a:schemeClr val="bg1"/>
                </a:solidFill>
              </a:rPr>
              <a:t> 3) Ananya Viswanathan    CB.EN.U4ECE26005</a:t>
            </a:r>
          </a:p>
          <a:p>
            <a:pPr marL="279400" indent="-279400">
              <a:spcAft>
                <a:spcPts val="1400"/>
              </a:spcAft>
              <a:buClr>
                <a:schemeClr val="accent3"/>
              </a:buClr>
              <a:buSzPct val="100000"/>
              <a:buChar char="•"/>
            </a:pPr>
            <a:r>
              <a:rPr lang="en-US" dirty="0">
                <a:solidFill>
                  <a:schemeClr val="bg1"/>
                </a:solidFill>
              </a:rPr>
              <a:t> 4) Swathi Theertha  K B    CB.EN.U4ECE26055 </a:t>
            </a:r>
          </a:p>
          <a:p>
            <a:pPr marL="279400" indent="-279400">
              <a:spcAft>
                <a:spcPts val="1400"/>
              </a:spcAft>
              <a:buClr>
                <a:schemeClr val="accent3"/>
              </a:buClr>
              <a:buSzPct val="100000"/>
              <a:buChar char="•"/>
            </a:pPr>
            <a:r>
              <a:rPr lang="en-US" dirty="0">
                <a:solidFill>
                  <a:schemeClr val="bg1"/>
                </a:solidFill>
              </a:rPr>
              <a:t>Selected Domain – 4</a:t>
            </a:r>
            <a:endParaRPr lang="en-US" dirty="0"/>
          </a:p>
          <a:p>
            <a:pPr marL="279400" indent="-279400">
              <a:spcAft>
                <a:spcPts val="1400"/>
              </a:spcAft>
              <a:buClr>
                <a:schemeClr val="accent3"/>
              </a:buClr>
              <a:buSzPct val="100000"/>
              <a:buChar char="•"/>
            </a:pPr>
            <a:r>
              <a:rPr lang="en-US" dirty="0">
                <a:solidFill>
                  <a:schemeClr val="bg1"/>
                </a:solidFill>
              </a:rPr>
              <a:t>Problem Statement – A system to detect potholes and rainwater depth to improve road safety, drainage management.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005840" y="1658684"/>
            <a:ext cx="9601200" cy="4619586"/>
          </a:xfrm>
          <a:prstGeom prst="rect">
            <a:avLst/>
          </a:prstGeom>
          <a:noFill/>
          <a:ln/>
        </p:spPr>
        <p:txBody>
          <a:bodyPr wrap="square" lIns="0" tIns="0" rIns="0" bIns="0" rtlCol="0" anchor="ctr"/>
          <a:lstStyle/>
          <a:p>
            <a:pPr>
              <a:spcAft>
                <a:spcPts val="1000"/>
              </a:spcAft>
              <a:buClr>
                <a:schemeClr val="accent1"/>
              </a:buClr>
              <a:buSzPct val="100000"/>
            </a:pPr>
            <a:endParaRPr lang="en-US" dirty="0"/>
          </a:p>
        </p:txBody>
      </p:sp>
      <p:sp>
        <p:nvSpPr>
          <p:cNvPr id="10" name="Prompts"/>
          <p:cNvSpPr txBox="1"/>
          <p:nvPr/>
        </p:nvSpPr>
        <p:spPr>
          <a:xfrm>
            <a:off x="1063447" y="1858975"/>
            <a:ext cx="10424160" cy="1188720"/>
          </a:xfrm>
          <a:prstGeom prst="rect">
            <a:avLst/>
          </a:prstGeom>
          <a:noFill/>
          <a:ln/>
        </p:spPr>
        <p:txBody>
          <a:bodyPr wrap="square" lIns="0" tIns="0" rIns="0" bIns="0" rtlCol="0" anchor="t"/>
          <a:lstStyle/>
          <a:p>
            <a:pPr>
              <a:spcAft>
                <a:spcPts val="1000"/>
              </a:spcAft>
              <a:buClr>
                <a:schemeClr val="accent1"/>
              </a:buClr>
              <a:buSzPct val="100000"/>
            </a:pPr>
            <a:r>
              <a:rPr lang="en-US" b="1" dirty="0"/>
              <a:t>What exactly needs to be solved?</a:t>
            </a:r>
          </a:p>
          <a:p>
            <a:pPr marL="279400" indent="-279400">
              <a:spcAft>
                <a:spcPts val="1000"/>
              </a:spcAft>
              <a:buClr>
                <a:schemeClr val="accent1"/>
              </a:buClr>
              <a:buSzPct val="100000"/>
              <a:buFont typeface="Arial" panose="020B0604020202020204" pitchFamily="34" charset="0"/>
              <a:buChar char="•"/>
            </a:pPr>
            <a:r>
              <a:rPr lang="en-US" dirty="0"/>
              <a:t>When it rains, water fills the potholes and they look like regular puddles. Drivers, particularly those on two wheelers, cannot judge their depth.</a:t>
            </a:r>
          </a:p>
          <a:p>
            <a:pPr marL="279400" indent="-279400">
              <a:spcAft>
                <a:spcPts val="1000"/>
              </a:spcAft>
              <a:buClr>
                <a:schemeClr val="accent1"/>
              </a:buClr>
              <a:buSzPct val="100000"/>
              <a:buFont typeface="Arial" panose="020B0604020202020204" pitchFamily="34" charset="0"/>
              <a:buChar char="•"/>
            </a:pPr>
            <a:r>
              <a:rPr lang="en-US" dirty="0"/>
              <a:t> We need a system which detects potholes and estimates the depth of the water in them, then warns road users and alerts authorities in time.</a:t>
            </a:r>
          </a:p>
          <a:p>
            <a:pPr>
              <a:spcAft>
                <a:spcPts val="1000"/>
              </a:spcAft>
              <a:buClr>
                <a:schemeClr val="accent1"/>
              </a:buClr>
              <a:buSzPct val="100000"/>
            </a:pPr>
            <a:r>
              <a:rPr lang="en-US" b="1" dirty="0"/>
              <a:t>Why is it important right now?</a:t>
            </a:r>
          </a:p>
          <a:p>
            <a:pPr marL="279400" indent="-279400">
              <a:spcAft>
                <a:spcPts val="500"/>
              </a:spcAft>
              <a:buClr>
                <a:schemeClr val="accent1"/>
              </a:buClr>
              <a:buSzPct val="100000"/>
              <a:buFont typeface="Arial" panose="020B0604020202020204" pitchFamily="34" charset="0"/>
              <a:buChar char="•"/>
            </a:pPr>
            <a:r>
              <a:rPr lang="en-US" dirty="0"/>
              <a:t>Rain is becoming increasingly unpredictable and intense.</a:t>
            </a:r>
          </a:p>
          <a:p>
            <a:pPr marL="279400" indent="-279400">
              <a:spcAft>
                <a:spcPts val="500"/>
              </a:spcAft>
              <a:buClr>
                <a:schemeClr val="accent1"/>
              </a:buClr>
              <a:buSzPct val="100000"/>
              <a:buFont typeface="Arial" panose="020B0604020202020204" pitchFamily="34" charset="0"/>
              <a:buChar char="•"/>
            </a:pPr>
            <a:r>
              <a:rPr lang="en-US" dirty="0"/>
              <a:t> Authorities don't know which roads are most dangerous because inspections are manual and slow.</a:t>
            </a:r>
          </a:p>
          <a:p>
            <a:pPr marL="279400" indent="-279400">
              <a:spcAft>
                <a:spcPts val="500"/>
              </a:spcAft>
              <a:buClr>
                <a:schemeClr val="accent1"/>
              </a:buClr>
              <a:buSzPct val="100000"/>
              <a:buFont typeface="Arial" panose="020B0604020202020204" pitchFamily="34" charset="0"/>
              <a:buChar char="•"/>
            </a:pPr>
            <a:r>
              <a:rPr lang="en-US" dirty="0"/>
              <a:t> Water-filled potholes are more dangerous.</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39"/>
            <a:ext cx="10424160" cy="3934719"/>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b="1" dirty="0"/>
              <a:t>Primary users' / target group: </a:t>
            </a:r>
            <a:r>
              <a:rPr lang="en-US" dirty="0"/>
              <a:t>Daily commuters, two-wheeler riders, car drivers, cyclists and pedestrians who face potholes and water-logged roads during heavy rainfall. With the app they can identify dangerous areas and select safer routes.</a:t>
            </a:r>
          </a:p>
          <a:p>
            <a:pPr marL="279400" indent="-279400">
              <a:spcAft>
                <a:spcPts val="1000"/>
              </a:spcAft>
              <a:buClr>
                <a:schemeClr val="accent1"/>
              </a:buClr>
              <a:buSzPct val="100000"/>
              <a:buChar char="•"/>
            </a:pPr>
            <a:r>
              <a:rPr lang="en-US" dirty="0"/>
              <a:t> </a:t>
            </a:r>
            <a:r>
              <a:rPr lang="en-US" b="1" dirty="0"/>
              <a:t>Secondary stakeholders: </a:t>
            </a:r>
            <a:r>
              <a:rPr lang="en-US" dirty="0"/>
              <a:t>Municipal corporations, Departments of Road Maintenance, Traffic Police and Local Government Authorities responsible for Road Maintenance, Drainage Management and Public Safety. The app can help them identify reported hazards needing attention. -</a:t>
            </a:r>
          </a:p>
          <a:p>
            <a:pPr marL="279400" indent="-279400">
              <a:spcAft>
                <a:spcPts val="1000"/>
              </a:spcAft>
              <a:buClr>
                <a:schemeClr val="accent1"/>
              </a:buClr>
              <a:buSzPct val="100000"/>
              <a:buChar char="•"/>
            </a:pPr>
            <a:r>
              <a:rPr lang="en-US" dirty="0"/>
              <a:t> </a:t>
            </a:r>
            <a:r>
              <a:rPr lang="en-US" b="1" dirty="0"/>
              <a:t>Who benefits if the problem is solved? </a:t>
            </a:r>
            <a:r>
              <a:rPr lang="en-US" dirty="0"/>
              <a:t>Road users have safer journeys and are alerted in good time about potholes and waterlogged roads. When locations are reported, local authorities can prioritize road repairs and the general public is less affected by accidents, vehicle damage, and road safety concerns when it rains.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914400" y="1918523"/>
            <a:ext cx="10424160" cy="3674444"/>
          </a:xfrm>
          <a:prstGeom prst="rect">
            <a:avLst/>
          </a:prstGeom>
          <a:noFill/>
          <a:ln/>
        </p:spPr>
        <p:txBody>
          <a:bodyPr wrap="square" lIns="0" tIns="0" rIns="0" bIns="0" rtlCol="0" anchor="t"/>
          <a:lstStyle/>
          <a:p>
            <a:pPr>
              <a:spcAft>
                <a:spcPts val="600"/>
              </a:spcAft>
            </a:pPr>
            <a:r>
              <a:rPr lang="en-US" b="1" dirty="0">
                <a:solidFill>
                  <a:schemeClr val="accent2"/>
                </a:solidFill>
              </a:rPr>
              <a:t>The scenario and background</a:t>
            </a:r>
          </a:p>
          <a:p>
            <a:pPr marL="279400" indent="-279400">
              <a:spcAft>
                <a:spcPts val="500"/>
              </a:spcAft>
              <a:buClr>
                <a:schemeClr val="accent1"/>
              </a:buClr>
              <a:buSzPct val="100000"/>
              <a:buChar char="•"/>
            </a:pPr>
            <a:r>
              <a:rPr lang="en-US" b="1" dirty="0"/>
              <a:t>Road checks are mostly manual. </a:t>
            </a:r>
            <a:r>
              <a:rPr lang="en-US" dirty="0"/>
              <a:t>Staff inspect roads by eye, or the authorities simply wait for someone to complain.</a:t>
            </a:r>
          </a:p>
          <a:p>
            <a:pPr marL="279400" indent="-279400">
              <a:spcAft>
                <a:spcPts val="500"/>
              </a:spcAft>
              <a:buClr>
                <a:schemeClr val="accent1"/>
              </a:buClr>
              <a:buSzPct val="100000"/>
              <a:buChar char="•"/>
            </a:pPr>
            <a:r>
              <a:rPr lang="en-US" b="1" dirty="0"/>
              <a:t>Water depth is never measured. </a:t>
            </a:r>
            <a:r>
              <a:rPr lang="en-US" dirty="0"/>
              <a:t>Drivers judge it by sight, and the only warning is often a barricade or a helpful bystander.</a:t>
            </a:r>
          </a:p>
          <a:p>
            <a:pPr marL="279400" indent="-279400">
              <a:spcAft>
                <a:spcPts val="1400"/>
              </a:spcAft>
              <a:buClr>
                <a:schemeClr val="accent1"/>
              </a:buClr>
              <a:buSzPct val="100000"/>
              <a:buChar char="•"/>
            </a:pPr>
            <a:r>
              <a:rPr lang="en-US" b="1" dirty="0"/>
              <a:t>Monsoon rains hit roads hard every year, </a:t>
            </a:r>
            <a:r>
              <a:rPr lang="en-US" dirty="0"/>
              <a:t>flooding surfaces, widening cracks into potholes and blocking drains with silt and plastic.</a:t>
            </a:r>
          </a:p>
          <a:p>
            <a:pPr>
              <a:spcAft>
                <a:spcPts val="600"/>
              </a:spcAft>
            </a:pPr>
            <a:r>
              <a:rPr lang="en-US" b="1" dirty="0">
                <a:solidFill>
                  <a:schemeClr val="accent2"/>
                </a:solidFill>
              </a:rPr>
              <a:t>How it works today, step by step</a:t>
            </a:r>
          </a:p>
          <a:p>
            <a:pPr>
              <a:spcAft>
                <a:spcPts val="500"/>
              </a:spcAft>
            </a:pPr>
            <a:r>
              <a:rPr lang="en-US" b="1" dirty="0"/>
              <a:t>1. </a:t>
            </a:r>
            <a:r>
              <a:rPr lang="en-US" dirty="0"/>
              <a:t>Rain falls and a pothole opens up, or water collects on a low stretch of road.</a:t>
            </a:r>
          </a:p>
          <a:p>
            <a:pPr>
              <a:spcAft>
                <a:spcPts val="500"/>
              </a:spcAft>
            </a:pPr>
            <a:r>
              <a:rPr lang="en-US" b="1" dirty="0"/>
              <a:t>2. </a:t>
            </a:r>
            <a:r>
              <a:rPr lang="en-US" dirty="0"/>
              <a:t>A vehicle gets stuck or someone is hurt, and a citizen reports it by phone, app or social media.</a:t>
            </a:r>
          </a:p>
          <a:p>
            <a:pPr>
              <a:spcAft>
                <a:spcPts val="500"/>
              </a:spcAft>
            </a:pPr>
            <a:r>
              <a:rPr lang="en-US" b="1" dirty="0"/>
              <a:t>3. </a:t>
            </a:r>
            <a:r>
              <a:rPr lang="en-US" dirty="0"/>
              <a:t>The civic body logs the complaint and sends an inspector to check.</a:t>
            </a:r>
          </a:p>
          <a:p>
            <a:pPr>
              <a:spcAft>
                <a:spcPts val="1400"/>
              </a:spcAft>
            </a:pPr>
            <a:r>
              <a:rPr lang="en-US" b="1" dirty="0"/>
              <a:t>4. </a:t>
            </a:r>
            <a:r>
              <a:rPr lang="en-US" dirty="0"/>
              <a:t>A repair or pumping crew is scheduled, often days later, by which time more vehicles have already hit it.</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1" name="TextBox 10">
            <a:extLst>
              <a:ext uri="{FF2B5EF4-FFF2-40B4-BE49-F238E27FC236}">
                <a16:creationId xmlns:a16="http://schemas.microsoft.com/office/drawing/2014/main" id="{3A1E4773-9FE9-BD93-016E-D987569140E7}"/>
              </a:ext>
            </a:extLst>
          </p:cNvPr>
          <p:cNvSpPr txBox="1"/>
          <p:nvPr/>
        </p:nvSpPr>
        <p:spPr>
          <a:xfrm>
            <a:off x="1234440" y="1447628"/>
            <a:ext cx="8863263" cy="646331"/>
          </a:xfrm>
          <a:prstGeom prst="rect">
            <a:avLst/>
          </a:prstGeom>
          <a:noFill/>
        </p:spPr>
        <p:txBody>
          <a:bodyPr wrap="square" rtlCol="0">
            <a:spAutoFit/>
          </a:bodyPr>
          <a:lstStyle/>
          <a:p>
            <a:r>
              <a:rPr lang="en-US" b="1" dirty="0">
                <a:solidFill>
                  <a:schemeClr val="accent2"/>
                </a:solidFill>
              </a:rPr>
              <a:t>Today, roads get fixed after they fail, not before</a:t>
            </a:r>
            <a:endParaRPr lang="en-US"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b="1" dirty="0">
                <a:solidFill>
                  <a:schemeClr val="accent2"/>
                </a:solidFill>
              </a:rPr>
              <a:t>The problem is not that we lack roads, it is that we cannot see their problems in time</a:t>
            </a:r>
            <a:endParaRPr lang="en-US" dirty="0"/>
          </a:p>
          <a:p>
            <a:pPr marL="0" indent="0">
              <a:buNone/>
            </a:pPr>
            <a:endParaRPr lang="en-US" sz="1800" dirty="0"/>
          </a:p>
        </p:txBody>
      </p:sp>
      <p:sp>
        <p:nvSpPr>
          <p:cNvPr id="10" name="Prompts"/>
          <p:cNvSpPr txBox="1"/>
          <p:nvPr/>
        </p:nvSpPr>
        <p:spPr>
          <a:xfrm>
            <a:off x="868680" y="1858060"/>
            <a:ext cx="10424160" cy="4189814"/>
          </a:xfrm>
          <a:prstGeom prst="rect">
            <a:avLst/>
          </a:prstGeom>
          <a:noFill/>
          <a:ln/>
        </p:spPr>
        <p:txBody>
          <a:bodyPr wrap="square" lIns="0" tIns="0" rIns="0" bIns="0" rtlCol="0" anchor="t"/>
          <a:lstStyle/>
          <a:p>
            <a:pPr>
              <a:spcAft>
                <a:spcPts val="500"/>
              </a:spcAft>
            </a:pPr>
            <a:r>
              <a:rPr lang="en-US" sz="1600" b="1" dirty="0">
                <a:solidFill>
                  <a:schemeClr val="accent2"/>
                </a:solidFill>
              </a:rPr>
              <a:t>Main difficulties and bottlenecks</a:t>
            </a:r>
          </a:p>
          <a:p>
            <a:pPr marL="279400" indent="-279400">
              <a:spcAft>
                <a:spcPts val="400"/>
              </a:spcAft>
              <a:buClr>
                <a:schemeClr val="accent1"/>
              </a:buClr>
              <a:buSzPct val="100000"/>
              <a:buChar char="•"/>
            </a:pPr>
            <a:r>
              <a:rPr lang="en-US" sz="1600" b="1" dirty="0"/>
              <a:t>Slow, manual reporting. </a:t>
            </a:r>
            <a:r>
              <a:rPr lang="en-US" sz="1600" dirty="0"/>
              <a:t>Potholes get fixed only after someone complains or an official happens to notice them.</a:t>
            </a:r>
          </a:p>
          <a:p>
            <a:pPr marL="279400" indent="-279400">
              <a:spcAft>
                <a:spcPts val="400"/>
              </a:spcAft>
              <a:buClr>
                <a:schemeClr val="accent1"/>
              </a:buClr>
              <a:buSzPct val="100000"/>
              <a:buChar char="•"/>
            </a:pPr>
            <a:r>
              <a:rPr lang="en-US" sz="1600" b="1" dirty="0"/>
              <a:t>No live water-depth data. </a:t>
            </a:r>
            <a:r>
              <a:rPr lang="en-US" sz="1600" dirty="0"/>
              <a:t>Flooded stretches are judged by eye, so even locals misjudge how deep it is.</a:t>
            </a:r>
          </a:p>
          <a:p>
            <a:pPr marL="279400" indent="-279400">
              <a:spcAft>
                <a:spcPts val="1200"/>
              </a:spcAft>
              <a:buClr>
                <a:schemeClr val="accent1"/>
              </a:buClr>
              <a:buSzPct val="100000"/>
              <a:buChar char="•"/>
            </a:pPr>
            <a:r>
              <a:rPr lang="en-US" sz="1600" b="1" dirty="0"/>
              <a:t>Detection is hard in real conditions. </a:t>
            </a:r>
            <a:r>
              <a:rPr lang="en-US" sz="1600" dirty="0"/>
              <a:t>Rain, shadows, puddle glare and poor light make potholes and water look alike.</a:t>
            </a:r>
          </a:p>
          <a:p>
            <a:pPr>
              <a:spcAft>
                <a:spcPts val="500"/>
              </a:spcAft>
            </a:pPr>
            <a:r>
              <a:rPr lang="en-US" sz="1600" b="1" dirty="0">
                <a:solidFill>
                  <a:schemeClr val="accent2"/>
                </a:solidFill>
              </a:rPr>
              <a:t>Root causes behind them</a:t>
            </a:r>
          </a:p>
          <a:p>
            <a:pPr marL="279400" indent="-279400">
              <a:spcAft>
                <a:spcPts val="400"/>
              </a:spcAft>
              <a:buClr>
                <a:schemeClr val="accent1"/>
              </a:buClr>
              <a:buSzPct val="100000"/>
              <a:buChar char="•"/>
            </a:pPr>
            <a:r>
              <a:rPr lang="en-US" sz="1600" b="1" dirty="0"/>
              <a:t>Road checks depend on people, </a:t>
            </a:r>
            <a:r>
              <a:rPr lang="en-US" sz="1600" dirty="0"/>
              <a:t>with limited staff and no continuous monitoring across thousands of kilometers.</a:t>
            </a:r>
          </a:p>
          <a:p>
            <a:pPr marL="279400" indent="-279400">
              <a:spcAft>
                <a:spcPts val="1200"/>
              </a:spcAft>
              <a:buClr>
                <a:schemeClr val="accent1"/>
              </a:buClr>
              <a:buSzPct val="100000"/>
              <a:buChar char="•"/>
            </a:pPr>
            <a:r>
              <a:rPr lang="en-US" sz="1600" b="1" dirty="0"/>
              <a:t>Drainage and road data sit in separate places, </a:t>
            </a:r>
            <a:r>
              <a:rPr lang="en-US" sz="1600" dirty="0"/>
              <a:t>so no one sees the full picture of where water collects.</a:t>
            </a:r>
          </a:p>
          <a:p>
            <a:pPr>
              <a:spcAft>
                <a:spcPts val="500"/>
              </a:spcAft>
            </a:pPr>
            <a:r>
              <a:rPr lang="en-US" sz="1600" b="1" dirty="0">
                <a:solidFill>
                  <a:schemeClr val="accent2"/>
                </a:solidFill>
              </a:rPr>
              <a:t>Consequences of leaving them unsolved</a:t>
            </a:r>
          </a:p>
          <a:p>
            <a:pPr marL="279400" indent="-279400">
              <a:spcAft>
                <a:spcPts val="400"/>
              </a:spcAft>
              <a:buClr>
                <a:schemeClr val="accent1"/>
              </a:buClr>
              <a:buSzPct val="100000"/>
              <a:buChar char="•"/>
            </a:pPr>
            <a:r>
              <a:rPr lang="en-US" sz="1600" b="1" dirty="0"/>
              <a:t>More accidents and vehicle damage, </a:t>
            </a:r>
            <a:r>
              <a:rPr lang="en-US" sz="1600" dirty="0"/>
              <a:t>especially for two-wheelers at night and in the rain.</a:t>
            </a:r>
          </a:p>
          <a:p>
            <a:pPr marL="279400" indent="-279400">
              <a:spcAft>
                <a:spcPts val="400"/>
              </a:spcAft>
              <a:buClr>
                <a:schemeClr val="accent1"/>
              </a:buClr>
              <a:buSzPct val="100000"/>
              <a:buChar char="•"/>
            </a:pPr>
            <a:r>
              <a:rPr lang="en-US" sz="1600" b="1" dirty="0"/>
              <a:t>Roads worsen faster, </a:t>
            </a:r>
            <a:r>
              <a:rPr lang="en-US" sz="1600" dirty="0"/>
              <a:t>as water seeps into cracks and small potholes grow into costly repairs.</a:t>
            </a:r>
          </a:p>
          <a:p>
            <a:pPr marL="279400" indent="-279400">
              <a:spcAft>
                <a:spcPts val="1200"/>
              </a:spcAft>
              <a:buClr>
                <a:schemeClr val="accent1"/>
              </a:buClr>
              <a:buSzPct val="100000"/>
              <a:buChar char="•"/>
            </a:pPr>
            <a:r>
              <a:rPr lang="en-US" sz="1600" b="1" dirty="0"/>
              <a:t>Waterlogging, traffic jams and weaker climate resilience </a:t>
            </a:r>
            <a:r>
              <a:rPr lang="en-US" sz="1600" dirty="0"/>
              <a:t>for the whole city.</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dirty="0"/>
              <a:t>Temporary pothole repairs and road inspections, current solutions, often fail in heavy rain due to poor drainage</a:t>
            </a:r>
            <a:endParaRPr lang="en-US" sz="1800" dirty="0"/>
          </a:p>
        </p:txBody>
      </p:sp>
      <p:sp>
        <p:nvSpPr>
          <p:cNvPr id="10" name="Prompts"/>
          <p:cNvSpPr txBox="1"/>
          <p:nvPr/>
        </p:nvSpPr>
        <p:spPr>
          <a:xfrm>
            <a:off x="868680" y="2148840"/>
            <a:ext cx="10424160" cy="3981372"/>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2000" b="1" dirty="0"/>
              <a:t>Existing methods, systems or alternatives</a:t>
            </a:r>
            <a:r>
              <a:rPr lang="en-US" sz="2000" dirty="0"/>
              <a:t>: Pothole Guard for identifying potholes, Aab </a:t>
            </a:r>
            <a:r>
              <a:rPr lang="en-US" sz="2000" dirty="0" err="1"/>
              <a:t>Prahari</a:t>
            </a:r>
            <a:r>
              <a:rPr lang="en-US" sz="2000" dirty="0"/>
              <a:t> for urban flooding and water-depth reporting, and </a:t>
            </a:r>
            <a:r>
              <a:rPr lang="en-US" sz="2000" dirty="0" err="1"/>
              <a:t>FloodWatch</a:t>
            </a:r>
            <a:r>
              <a:rPr lang="en-US" sz="2000" dirty="0"/>
              <a:t> India for flood monitoring and forecasting.</a:t>
            </a:r>
          </a:p>
          <a:p>
            <a:pPr marL="279400" indent="-279400">
              <a:spcAft>
                <a:spcPts val="1000"/>
              </a:spcAft>
              <a:buClr>
                <a:schemeClr val="accent1"/>
              </a:buClr>
              <a:buSzPct val="100000"/>
              <a:buChar char="•"/>
            </a:pPr>
            <a:r>
              <a:rPr lang="en-US" sz="2000" b="1" dirty="0"/>
              <a:t>Limitations of each</a:t>
            </a:r>
            <a:r>
              <a:rPr lang="en-US" sz="2000" dirty="0"/>
              <a:t>: Pothole Guard is unable to detect potholes filled with water, Aab </a:t>
            </a:r>
            <a:r>
              <a:rPr lang="en-US" sz="2000" dirty="0" err="1"/>
              <a:t>Prahari</a:t>
            </a:r>
            <a:r>
              <a:rPr lang="en-US" sz="2000" dirty="0"/>
              <a:t> relies on location-based reporting, and </a:t>
            </a:r>
            <a:r>
              <a:rPr lang="en-US" sz="2000" dirty="0" err="1"/>
              <a:t>FloodWatch</a:t>
            </a:r>
            <a:r>
              <a:rPr lang="en-US" sz="2000" dirty="0"/>
              <a:t> India cannot identify specific potholes or the depth of water on particular roads.</a:t>
            </a:r>
          </a:p>
          <a:p>
            <a:pPr marL="279400" indent="-279400">
              <a:spcAft>
                <a:spcPts val="1000"/>
              </a:spcAft>
              <a:buClr>
                <a:schemeClr val="accent1"/>
              </a:buClr>
              <a:buSzPct val="100000"/>
              <a:buChar char="•"/>
            </a:pPr>
            <a:r>
              <a:rPr lang="en-US" sz="2000" b="1" dirty="0"/>
              <a:t>The gap they leave open (Key Challenges): </a:t>
            </a:r>
            <a:r>
              <a:rPr lang="en-US" sz="2000" dirty="0"/>
              <a:t>There is a need for a unified real-time system to detect potholes hidden by rainwater, estimate road water depth, and alert drivers to dangerous road conditions.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noFill/>
          <a:ln/>
        </p:spPr>
        <p:txBody>
          <a:bodyPr wrap="square" lIns="0" tIns="0" rIns="0" bIns="0" rtlCol="0" anchor="ctr"/>
          <a:lstStyle/>
          <a:p>
            <a:r>
              <a:rPr lang="en-US" dirty="0"/>
              <a:t>PROBLEM INSIGHTS &amp; OPPORTUNITY AREAS</a:t>
            </a:r>
          </a:p>
        </p:txBody>
      </p:sp>
      <p:sp>
        <p:nvSpPr>
          <p:cNvPr id="25" name="Slide Number Placeholder 0"/>
          <p:cNvSpPr>
            <a:spLocks noGrp="1"/>
          </p:cNvSpPr>
          <p:nvPr>
            <p:ph type="sldNum" sz="quarter" idx="4294967295"/>
          </p:nvPr>
        </p:nvSpPr>
        <p:spPr>
          <a:xfrm>
            <a:off x="11259007" y="6409944"/>
            <a:ext cx="457200" cy="395935"/>
          </a:xfr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fld id="{F7021451-1387-4CA6-816F-3879F97B5CBC}" type="slidenum">
              <a:rPr lang="en-US"/>
              <a:pPr/>
              <a:t>7</a:t>
            </a:fld>
            <a:endParaRPr lang="en-US"/>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1097280" y="1417320"/>
            <a:ext cx="3291840" cy="41605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endParaRPr lang="en-US" dirty="0"/>
          </a:p>
        </p:txBody>
      </p:sp>
      <p:sp>
        <p:nvSpPr>
          <p:cNvPr id="22" name="Prompts">
            <a:extLst>
              <a:ext uri="{FF2B5EF4-FFF2-40B4-BE49-F238E27FC236}">
                <a16:creationId xmlns:a16="http://schemas.microsoft.com/office/drawing/2014/main" id="{0256EFB4-27E8-AA86-F981-6D80D50ED231}"/>
              </a:ext>
            </a:extLst>
          </p:cNvPr>
          <p:cNvSpPr txBox="1"/>
          <p:nvPr/>
        </p:nvSpPr>
        <p:spPr>
          <a:xfrm>
            <a:off x="1170432" y="1280160"/>
            <a:ext cx="3310128" cy="4800600"/>
          </a:xfrm>
          <a:prstGeom prst="rect">
            <a:avLst/>
          </a:prstGeom>
          <a:noFill/>
          <a:ln/>
        </p:spPr>
        <p:txBody>
          <a:bodyPr wrap="square" lIns="0" tIns="0" rIns="0" bIns="0" rtlCol="0" anchor="t"/>
          <a:lstStyle/>
          <a:p>
            <a:r>
              <a:rPr lang="en-IN" sz="2000" b="1" dirty="0"/>
              <a:t>1. Hardware Components</a:t>
            </a:r>
          </a:p>
          <a:p>
            <a:pPr marL="285750" lvl="0" indent="-285750">
              <a:buFont typeface="Wingdings" panose="05000000000000000000" pitchFamily="2" charset="2"/>
              <a:buChar char="Ø"/>
            </a:pPr>
            <a:r>
              <a:rPr lang="en-IN" sz="2000" dirty="0"/>
              <a:t>Android smartphone</a:t>
            </a:r>
          </a:p>
          <a:p>
            <a:pPr marL="285750" lvl="0" indent="-285750">
              <a:buFont typeface="Wingdings" panose="05000000000000000000" pitchFamily="2" charset="2"/>
              <a:buChar char="Ø"/>
            </a:pPr>
            <a:r>
              <a:rPr lang="en-IN" sz="2000" dirty="0"/>
              <a:t>Laptop or PC</a:t>
            </a:r>
          </a:p>
          <a:p>
            <a:pPr marL="285750" lvl="0" indent="-285750">
              <a:buFont typeface="Wingdings" panose="05000000000000000000" pitchFamily="2" charset="2"/>
              <a:buChar char="Ø"/>
            </a:pPr>
            <a:r>
              <a:rPr lang="en-IN" sz="2000" dirty="0"/>
              <a:t>Internet connection</a:t>
            </a:r>
          </a:p>
          <a:p>
            <a:pPr marL="285750" lvl="0" indent="-285750">
              <a:buFont typeface="Wingdings" panose="05000000000000000000" pitchFamily="2" charset="2"/>
              <a:buChar char="Ø"/>
            </a:pPr>
            <a:r>
              <a:rPr lang="en-IN" sz="2000" dirty="0"/>
              <a:t>Built-in GPS receiver</a:t>
            </a:r>
          </a:p>
          <a:p>
            <a:pPr marL="285750" lvl="0" indent="-285750">
              <a:buFont typeface="Wingdings" panose="05000000000000000000" pitchFamily="2" charset="2"/>
              <a:buChar char="Ø"/>
            </a:pPr>
            <a:r>
              <a:rPr lang="en-IN" sz="2000" dirty="0"/>
              <a:t>Optional water-level sensor</a:t>
            </a:r>
          </a:p>
          <a:p>
            <a:pPr>
              <a:spcAft>
                <a:spcPts val="1000"/>
              </a:spcAft>
              <a:buClr>
                <a:schemeClr val="accent1"/>
              </a:buClr>
              <a:buSzPct val="100000"/>
            </a:pPr>
            <a:endParaRPr lang="en-IN" dirty="0"/>
          </a:p>
          <a:p>
            <a:pPr marL="285750" indent="-285750">
              <a:spcAft>
                <a:spcPts val="1000"/>
              </a:spcAft>
              <a:buClr>
                <a:schemeClr val="accent1"/>
              </a:buClr>
              <a:buSzPct val="100000"/>
              <a:buFont typeface="Arial" panose="020B0604020202020204" pitchFamily="34" charset="0"/>
              <a:buChar char="•"/>
            </a:pPr>
            <a:endParaRPr lang="en-US" dirty="0"/>
          </a:p>
        </p:txBody>
      </p:sp>
      <p:sp>
        <p:nvSpPr>
          <p:cNvPr id="26" name="Prompts">
            <a:extLst>
              <a:ext uri="{FF2B5EF4-FFF2-40B4-BE49-F238E27FC236}">
                <a16:creationId xmlns:a16="http://schemas.microsoft.com/office/drawing/2014/main" id="{A3562686-52A7-86C3-CE35-E2CACC1E51C3}"/>
              </a:ext>
            </a:extLst>
          </p:cNvPr>
          <p:cNvSpPr txBox="1"/>
          <p:nvPr/>
        </p:nvSpPr>
        <p:spPr>
          <a:xfrm>
            <a:off x="4513072" y="1280160"/>
            <a:ext cx="3310128" cy="4800600"/>
          </a:xfrm>
          <a:prstGeom prst="rect">
            <a:avLst/>
          </a:prstGeom>
          <a:noFill/>
          <a:ln/>
        </p:spPr>
        <p:txBody>
          <a:bodyPr wrap="square" lIns="0" tIns="0" rIns="0" bIns="0" rtlCol="0" anchor="t"/>
          <a:lstStyle/>
          <a:p>
            <a:r>
              <a:rPr lang="en-IN" sz="2000" b="1" dirty="0"/>
              <a:t>2. Software Components</a:t>
            </a:r>
          </a:p>
          <a:p>
            <a:pPr marL="342900" lvl="0" indent="-342900">
              <a:buFont typeface="Wingdings" panose="05000000000000000000" pitchFamily="2" charset="2"/>
              <a:buChar char="Ø"/>
            </a:pPr>
            <a:r>
              <a:rPr lang="en-IN" sz="2000" dirty="0"/>
              <a:t>MIT App Inventor</a:t>
            </a:r>
          </a:p>
          <a:p>
            <a:pPr marL="342900" lvl="0" indent="-342900">
              <a:buFont typeface="Wingdings" panose="05000000000000000000" pitchFamily="2" charset="2"/>
              <a:buChar char="Ø"/>
            </a:pPr>
            <a:r>
              <a:rPr lang="en-IN" sz="2000" dirty="0"/>
              <a:t>OpenStreetMap</a:t>
            </a:r>
          </a:p>
          <a:p>
            <a:pPr marL="342900" lvl="0" indent="-342900">
              <a:buFont typeface="Wingdings" panose="05000000000000000000" pitchFamily="2" charset="2"/>
              <a:buChar char="Ø"/>
            </a:pPr>
            <a:r>
              <a:rPr lang="en-IN" sz="2000" dirty="0"/>
              <a:t>Firebase Realtime Database</a:t>
            </a:r>
          </a:p>
          <a:p>
            <a:pPr marL="342900" lvl="0" indent="-342900">
              <a:buFont typeface="Wingdings" panose="05000000000000000000" pitchFamily="2" charset="2"/>
              <a:buChar char="Ø"/>
            </a:pPr>
            <a:r>
              <a:rPr lang="en-IN" sz="2000" dirty="0"/>
              <a:t>MIT AI2 Companion</a:t>
            </a:r>
          </a:p>
          <a:p>
            <a:pPr marL="342900" lvl="0" indent="-342900">
              <a:buFont typeface="Wingdings" panose="05000000000000000000" pitchFamily="2" charset="2"/>
              <a:buChar char="Ø"/>
            </a:pPr>
            <a:r>
              <a:rPr lang="en-IN" sz="2000" dirty="0"/>
              <a:t>Google Maps (optional)</a:t>
            </a:r>
          </a:p>
          <a:p>
            <a:pPr marL="285750" indent="-285750">
              <a:spcAft>
                <a:spcPts val="1000"/>
              </a:spcAft>
              <a:buClr>
                <a:schemeClr val="accent1"/>
              </a:buClr>
              <a:buSzPct val="100000"/>
              <a:buFont typeface="Arial" panose="020B0604020202020204" pitchFamily="34" charset="0"/>
              <a:buChar char="•"/>
            </a:pPr>
            <a:endParaRPr lang="en-US" dirty="0"/>
          </a:p>
        </p:txBody>
      </p:sp>
      <p:sp>
        <p:nvSpPr>
          <p:cNvPr id="28" name="Prompts">
            <a:extLst>
              <a:ext uri="{FF2B5EF4-FFF2-40B4-BE49-F238E27FC236}">
                <a16:creationId xmlns:a16="http://schemas.microsoft.com/office/drawing/2014/main" id="{17A2D564-31F3-BEDE-E510-A048E9ABF4EE}"/>
              </a:ext>
            </a:extLst>
          </p:cNvPr>
          <p:cNvSpPr txBox="1"/>
          <p:nvPr/>
        </p:nvSpPr>
        <p:spPr>
          <a:xfrm>
            <a:off x="7855712" y="1280160"/>
            <a:ext cx="3310128" cy="4800600"/>
          </a:xfrm>
          <a:prstGeom prst="rect">
            <a:avLst/>
          </a:prstGeom>
          <a:noFill/>
          <a:ln/>
        </p:spPr>
        <p:txBody>
          <a:bodyPr wrap="square" lIns="0" tIns="0" rIns="0" bIns="0" rtlCol="0" anchor="t"/>
          <a:lstStyle/>
          <a:p>
            <a:r>
              <a:rPr lang="en-IN" sz="2000" b="1" dirty="0"/>
              <a:t>3. Human Resources</a:t>
            </a:r>
          </a:p>
          <a:p>
            <a:pPr marL="342900" lvl="0" indent="-342900">
              <a:buFont typeface="Wingdings" panose="05000000000000000000" pitchFamily="2" charset="2"/>
              <a:buChar char="Ø"/>
            </a:pPr>
            <a:r>
              <a:rPr lang="en-IN" sz="2000" dirty="0"/>
              <a:t>App interface designer</a:t>
            </a:r>
          </a:p>
          <a:p>
            <a:pPr marL="342900" lvl="0" indent="-342900">
              <a:buFont typeface="Wingdings" panose="05000000000000000000" pitchFamily="2" charset="2"/>
              <a:buChar char="Ø"/>
            </a:pPr>
            <a:r>
              <a:rPr lang="en-IN" sz="2000" dirty="0"/>
              <a:t>GPS and map integration developer</a:t>
            </a:r>
          </a:p>
          <a:p>
            <a:pPr marL="342900" lvl="0" indent="-342900">
              <a:buFont typeface="Wingdings" panose="05000000000000000000" pitchFamily="2" charset="2"/>
              <a:buChar char="Ø"/>
            </a:pPr>
            <a:r>
              <a:rPr lang="en-IN" sz="2000" dirty="0"/>
              <a:t>Database and reporting developer</a:t>
            </a:r>
          </a:p>
          <a:p>
            <a:pPr marL="342900" lvl="0" indent="-342900">
              <a:buFont typeface="Wingdings" panose="05000000000000000000" pitchFamily="2" charset="2"/>
              <a:buChar char="Ø"/>
            </a:pPr>
            <a:r>
              <a:rPr lang="en-IN" sz="2000" dirty="0"/>
              <a:t>Testing and documentation member</a:t>
            </a:r>
          </a:p>
          <a:p>
            <a:pPr marL="342900" lvl="0" indent="-342900">
              <a:buFont typeface="Wingdings" panose="05000000000000000000" pitchFamily="2" charset="2"/>
              <a:buChar char="Ø"/>
            </a:pPr>
            <a:r>
              <a:rPr lang="en-IN" sz="2000" dirty="0"/>
              <a:t>Faculty project guide</a:t>
            </a:r>
          </a:p>
          <a:p>
            <a:pPr marL="285750" indent="-285750">
              <a:spcAft>
                <a:spcPts val="1000"/>
              </a:spcAft>
              <a:buClr>
                <a:schemeClr val="accent1"/>
              </a:buClr>
              <a:buSzPct val="100000"/>
              <a:buFont typeface="Arial" panose="020B0604020202020204" pitchFamily="34" charset="0"/>
              <a:buChar cha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523390"/>
            <a:ext cx="9601200" cy="502920"/>
          </a:xfrm>
          <a:prstGeom prst="rect">
            <a:avLst/>
          </a:prstGeom>
          <a:noFill/>
          <a:ln/>
        </p:spPr>
        <p:txBody>
          <a:bodyPr wrap="square" lIns="0" tIns="0" rIns="0" bIns="0" rtlCol="0" anchor="ctr"/>
          <a:lstStyle/>
          <a:p>
            <a:r>
              <a:rPr lang="en-IN" b="1" dirty="0"/>
              <a:t>Expected Outcome:</a:t>
            </a:r>
            <a:r>
              <a:rPr lang="en-IN" dirty="0"/>
              <a:t> To develop a real-time system that detects potholes, estimates rainwater depth on roads, and alerts drivers about hazardous areas to reduce road accidents and improve road safety during heavy rainfall.</a:t>
            </a:r>
            <a:endParaRPr lang="en-US" sz="1800" dirty="0"/>
          </a:p>
        </p:txBody>
      </p:sp>
      <p:sp>
        <p:nvSpPr>
          <p:cNvPr id="10" name="Prompts"/>
          <p:cNvSpPr txBox="1"/>
          <p:nvPr/>
        </p:nvSpPr>
        <p:spPr>
          <a:xfrm>
            <a:off x="914400" y="2240280"/>
            <a:ext cx="10424160" cy="425754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2000" b="1" dirty="0"/>
              <a:t>What your team intends to do:</a:t>
            </a:r>
            <a:r>
              <a:rPr lang="en-US" sz="2000" dirty="0"/>
              <a:t> Create a basic GPS-enabled mobile application that enables users to identify potholes and waterlogged roads by pressing a button and choosing the type of hazard.</a:t>
            </a:r>
          </a:p>
          <a:p>
            <a:pPr marL="279400" indent="-279400">
              <a:spcAft>
                <a:spcPts val="1000"/>
              </a:spcAft>
              <a:buClr>
                <a:schemeClr val="accent1"/>
              </a:buClr>
              <a:buSzPct val="100000"/>
              <a:buChar char="•"/>
            </a:pPr>
            <a:r>
              <a:rPr lang="en-US" sz="2000" b="1" dirty="0"/>
              <a:t>What we want to make better: </a:t>
            </a:r>
            <a:r>
              <a:rPr lang="en-US" sz="2000" dirty="0"/>
              <a:t>To improve existing pothole and flood reporting apps, combine pothole and waterlogging reports into a single, GPS-enabled application, complete with an easy-to-use map and local hazard alerts to help users avoid dangerous roads during rainy weather.</a:t>
            </a:r>
          </a:p>
          <a:p>
            <a:pPr marL="279400" indent="-279400">
              <a:spcAft>
                <a:spcPts val="1000"/>
              </a:spcAft>
              <a:buClr>
                <a:schemeClr val="accent1"/>
              </a:buClr>
              <a:buSzPct val="100000"/>
              <a:buChar char="•"/>
            </a:pPr>
            <a:r>
              <a:rPr lang="en-IN" sz="2000" b="1" dirty="0"/>
              <a:t>What successful improvement should you achieve:</a:t>
            </a:r>
            <a:r>
              <a:rPr lang="en-US" sz="2000" dirty="0"/>
              <a:t> Develop a working prototype that displays reported hazards on a map and alerts users when they get near a marked location</a:t>
            </a:r>
            <a:r>
              <a:rPr lang="en-US" dirty="0"/>
              <a: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4 Dimension</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914710678"/>
              </p:ext>
            </p:extLst>
          </p:nvPr>
        </p:nvGraphicFramePr>
        <p:xfrm>
          <a:off x="569167" y="2194560"/>
          <a:ext cx="11073887" cy="3474720"/>
        </p:xfrm>
        <a:graphic>
          <a:graphicData uri="http://schemas.openxmlformats.org/drawingml/2006/table">
            <a:tbl>
              <a:tblPr/>
              <a:tblGrid>
                <a:gridCol w="1950098">
                  <a:extLst>
                    <a:ext uri="{9D8B030D-6E8A-4147-A177-3AD203B41FA5}">
                      <a16:colId xmlns:a16="http://schemas.microsoft.com/office/drawing/2014/main" val="20000"/>
                    </a:ext>
                  </a:extLst>
                </a:gridCol>
                <a:gridCol w="2879673">
                  <a:extLst>
                    <a:ext uri="{9D8B030D-6E8A-4147-A177-3AD203B41FA5}">
                      <a16:colId xmlns:a16="http://schemas.microsoft.com/office/drawing/2014/main" val="20001"/>
                    </a:ext>
                  </a:extLst>
                </a:gridCol>
                <a:gridCol w="6244116">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Shobika S</a:t>
                      </a:r>
                      <a:endParaRPr lang="en-US" sz="16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800" b="0" i="0" kern="1200" dirty="0">
                          <a:solidFill>
                            <a:schemeClr val="tx1"/>
                          </a:solidFill>
                          <a:effectLst/>
                          <a:latin typeface="+mn-lt"/>
                          <a:ea typeface="+mn-ea"/>
                          <a:cs typeface="+mn-cs"/>
                        </a:rPr>
                        <a:t>UI/UX Designer</a:t>
                      </a:r>
                      <a:endParaRPr lang="en-US" sz="18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800" b="0" i="0" kern="1200" dirty="0">
                          <a:solidFill>
                            <a:schemeClr val="tx1"/>
                          </a:solidFill>
                          <a:effectLst/>
                          <a:latin typeface="+mn-lt"/>
                          <a:ea typeface="+mn-ea"/>
                          <a:cs typeface="+mn-cs"/>
                        </a:rPr>
                        <a:t>Design the app layout, buttons, menus, and hazard-reporting screens using MIT App Inventor.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600" b="1" dirty="0">
                          <a:latin typeface="Calibri" charset="0"/>
                          <a:ea typeface="Calibri" charset="0"/>
                          <a:cs typeface="Calibri" charset="0"/>
                        </a:rPr>
                        <a:t>Swathi Theertha k B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GPS and Map Developer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Integrate GPS location and display pothole and waterlogging locations on OpenStreetMap.</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600" b="1" dirty="0">
                          <a:latin typeface="Calibri" charset="0"/>
                          <a:ea typeface="Calibri" charset="0"/>
                          <a:cs typeface="Calibri" charset="0"/>
                        </a:rPr>
                        <a:t>Ananya Viswanathan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Database and App Logic Developer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Set up Firebase, save hazard reports, and retrieve reported locations.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600" b="1" dirty="0">
                          <a:latin typeface="Calibri" charset="0"/>
                          <a:ea typeface="Calibri" charset="0"/>
                          <a:cs typeface="Calibri" charset="0"/>
                        </a:rPr>
                        <a:t>V</a:t>
                      </a:r>
                      <a:r>
                        <a:rPr lang="en-US" sz="1400" b="1" dirty="0">
                          <a:latin typeface="Calibri" charset="0"/>
                          <a:ea typeface="Calibri" charset="0"/>
                          <a:cs typeface="Calibri" charset="0"/>
                        </a:rPr>
                        <a:t> </a:t>
                      </a:r>
                      <a:r>
                        <a:rPr lang="en-US" sz="1600" b="1" dirty="0">
                          <a:latin typeface="Calibri" charset="0"/>
                          <a:ea typeface="Calibri" charset="0"/>
                          <a:cs typeface="Calibri" charset="0"/>
                        </a:rPr>
                        <a:t>S </a:t>
                      </a:r>
                      <a:r>
                        <a:rPr lang="en-US" sz="1600" b="1" dirty="0" err="1">
                          <a:latin typeface="Calibri" charset="0"/>
                          <a:ea typeface="Calibri" charset="0"/>
                          <a:cs typeface="Calibri" charset="0"/>
                        </a:rPr>
                        <a:t>Lithanya</a:t>
                      </a:r>
                      <a:r>
                        <a:rPr lang="en-US" sz="1600" b="1" dirty="0">
                          <a:latin typeface="Calibri" charset="0"/>
                          <a:ea typeface="Calibri" charset="0"/>
                          <a:cs typeface="Calibri" charset="0"/>
                        </a:rPr>
                        <a:t> Varshigha</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Testing and Documentation Lead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800" dirty="0">
                          <a:latin typeface="Calibri" charset="0"/>
                          <a:ea typeface="Calibri" charset="0"/>
                          <a:cs typeface="Calibri" charset="0"/>
                        </a:rPr>
                        <a:t>Test app features, check location accuracy, identify errors, and prepare the project report and presentation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1210</Words>
  <Application>Microsoft Office PowerPoint</Application>
  <PresentationFormat>Widescreen</PresentationFormat>
  <Paragraphs>129</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Shobika S</cp:lastModifiedBy>
  <cp:revision>2</cp:revision>
  <dcterms:created xsi:type="dcterms:W3CDTF">2026-10-07T15:27:40Z</dcterms:created>
  <dcterms:modified xsi:type="dcterms:W3CDTF">2026-10-09T15:55:44Z</dcterms:modified>
</cp:coreProperties>
</file>